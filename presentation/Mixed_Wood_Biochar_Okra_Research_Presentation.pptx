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100" b="1">
                <a:solidFill>
                  <a:srgbClr val="193643"/>
                </a:solidFill>
              </a:defRPr>
            </a:pPr>
            <a:r>
              <a:t>Effects of Mixed Wood Biochar on Fertilizer Use Efficiency and Growth Performance of Okra</a:t>
            </a:r>
          </a:p>
          <a:p>
            <a:pPr>
              <a:defRPr sz="2000">
                <a:solidFill>
                  <a:srgbClr val="43754A"/>
                </a:solidFill>
              </a:defRPr>
            </a:pPr>
            <a:r>
              <a:t>Research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977639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B2D"/>
                </a:solidFill>
              </a:defRPr>
            </a:pPr>
            <a:r>
              <a:t>Moazzam Riaz</a:t>
            </a:r>
          </a:p>
          <a:p>
            <a:pPr>
              <a:defRPr sz="1500">
                <a:solidFill>
                  <a:srgbClr val="5F6C70"/>
                </a:solidFill>
              </a:defRPr>
            </a:pPr>
            <a:r>
              <a:t>Soil Science • MNSUAM</a:t>
            </a:r>
          </a:p>
          <a:p>
            <a:pPr>
              <a:defRPr sz="1400">
                <a:solidFill>
                  <a:srgbClr val="5F6C70"/>
                </a:solidFill>
              </a:defRPr>
            </a:pPr>
            <a:r>
              <a:t>Experimental design: Completely Randomized Design (CRD)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Research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Fertilizer-use efficiency is closely linked with nutrient availability, plant uptake, and crop productivity.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Biochar is a carbon-rich soil amendment that can modify nutrient retention and the soil environment.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Okra provides a practical crop system for evaluating growth, yield, and plant nutrient responses.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This experiment evaluated how mixed wood biochar treatments influenced multiple plant-performance indicators.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Evaluate treatment effects on vegetative growth and biomass.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Assess treatment responses in pod and yield-related traits.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Determine changes in plant and grain N, P, and K concentrations.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Quantify N, P, and K uptake responses.</a:t>
            </a:r>
          </a:p>
          <a:p>
            <a:pPr>
              <a:spcAft>
                <a:spcPts val="1000"/>
              </a:spcAft>
              <a:defRPr sz="1800" b="0">
                <a:solidFill>
                  <a:srgbClr val="232B2D"/>
                </a:solidFill>
              </a:defRPr>
            </a:pPr>
            <a:r>
              <a:t>Identify treatment differences using ANOVA followed by Tukey-adjusted comparisons.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Experimental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1417320"/>
          </a:xfrm>
          <a:prstGeom prst="roundRect">
            <a:avLst/>
          </a:prstGeom>
          <a:solidFill>
            <a:srgbClr val="F4F7F4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754A"/>
                </a:solidFill>
              </a:defRPr>
            </a:pPr>
            <a:r>
              <a:t>Design</a:t>
            </a:r>
          </a:p>
          <a:p>
            <a:pPr>
              <a:defRPr sz="1900" b="1">
                <a:solidFill>
                  <a:srgbClr val="193643"/>
                </a:solidFill>
              </a:defRPr>
            </a:pPr>
            <a:r>
              <a:t>Completely Randomized Design (CRD)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17320"/>
            <a:ext cx="5074920" cy="1417320"/>
          </a:xfrm>
          <a:prstGeom prst="roundRect">
            <a:avLst/>
          </a:prstGeom>
          <a:solidFill>
            <a:srgbClr val="F4F7F4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1848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754A"/>
                </a:solidFill>
              </a:defRPr>
            </a:pPr>
            <a:r>
              <a:t>Treatments</a:t>
            </a:r>
          </a:p>
          <a:p>
            <a:pPr>
              <a:defRPr sz="1900" b="1">
                <a:solidFill>
                  <a:srgbClr val="193643"/>
                </a:solidFill>
              </a:defRPr>
            </a:pPr>
            <a:r>
              <a:t>5 treatment levels: T0–T4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074920" cy="1417320"/>
          </a:xfrm>
          <a:prstGeom prst="roundRect">
            <a:avLst/>
          </a:prstGeom>
          <a:solidFill>
            <a:srgbClr val="F4F7F4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754A"/>
                </a:solidFill>
              </a:defRPr>
            </a:pPr>
            <a:r>
              <a:t>Replications</a:t>
            </a:r>
          </a:p>
          <a:p>
            <a:pPr>
              <a:defRPr sz="1900" b="1">
                <a:solidFill>
                  <a:srgbClr val="193643"/>
                </a:solidFill>
              </a:defRPr>
            </a:pPr>
            <a:r>
              <a:t>3 replications per treatment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383280"/>
            <a:ext cx="5074920" cy="1417320"/>
          </a:xfrm>
          <a:prstGeom prst="roundRect">
            <a:avLst/>
          </a:prstGeom>
          <a:solidFill>
            <a:srgbClr val="F4F7F4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358444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754A"/>
                </a:solidFill>
              </a:defRPr>
            </a:pPr>
            <a:r>
              <a:t>Experimental units</a:t>
            </a:r>
          </a:p>
          <a:p>
            <a:pPr>
              <a:defRPr sz="1900" b="1">
                <a:solidFill>
                  <a:srgbClr val="193643"/>
                </a:solidFill>
              </a:defRPr>
            </a:pPr>
            <a:r>
              <a:t>15 pots in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Measurements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Growth: plant height, shoot fresh/dry weight, root fresh/dry weight.</a:t>
            </a:r>
          </a:p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Yield components: pod fresh/dry weight, pods per plant, grains per pod, pod length.</a:t>
            </a:r>
          </a:p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Nutrient status: plant and grain N, P, and K concentrations.</a:t>
            </a:r>
          </a:p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Nutrient uptake: N, P, and K uptake.</a:t>
            </a:r>
          </a:p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Statistical workflow: assumption checks → one-way ANOVA → estimated marginal means → Tukey-adjusted pairwise comparisons and compact-letter displays.</a:t>
            </a:r>
          </a:p>
          <a:p>
            <a:pPr>
              <a:spcAft>
                <a:spcPts val="1000"/>
              </a:spcAft>
              <a:defRPr sz="1650" b="0">
                <a:solidFill>
                  <a:srgbClr val="232B2D"/>
                </a:solidFill>
              </a:defRPr>
            </a:pPr>
            <a:r>
              <a:t>Significance threshold: α = 0.05.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Growth Response: Plant Height</a:t>
            </a:r>
          </a:p>
        </p:txBody>
      </p:sp>
      <p:pic>
        <p:nvPicPr>
          <p:cNvPr id="4" name="Picture 3" descr="01_plant_heigh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18" y="1234440"/>
            <a:ext cx="639776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173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Treatment effect was significant (ANOVA p = 0.00232).</a:t>
            </a:r>
          </a:p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Treatment means ranged from 12.00 to 14.67 cm in the analyzed dataset.</a:t>
            </a:r>
          </a:p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T1 and T2 were higher than T3 in Tukey-adjusted comparisons; the full CLD is retained in the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Yield Response: Pod Fresh Weight</a:t>
            </a:r>
          </a:p>
        </p:txBody>
      </p:sp>
      <p:pic>
        <p:nvPicPr>
          <p:cNvPr id="4" name="Picture 3" descr="02_pod_fresh_weigh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18" y="1234440"/>
            <a:ext cx="639776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173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Pod fresh weight showed a strong treatment effect (p &lt; 0.001).</a:t>
            </a:r>
          </a:p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Mean pod fresh weight ranged from 14.9 g (T0) to 28.7 g (T4).</a:t>
            </a:r>
          </a:p>
          <a:p>
            <a:pPr>
              <a:spcAft>
                <a:spcPts val="1000"/>
              </a:spcAft>
              <a:defRPr sz="1450" b="0">
                <a:solidFill>
                  <a:srgbClr val="232B2D"/>
                </a:solidFill>
              </a:defRPr>
            </a:pPr>
            <a:r>
              <a:t>T4 formed a distinct higher statistical group than T0 in the CLD.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Yield Components</a:t>
            </a:r>
          </a:p>
        </p:txBody>
      </p:sp>
      <p:pic>
        <p:nvPicPr>
          <p:cNvPr id="4" name="Picture 3" descr="03_yield_componen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66" y="1143000"/>
            <a:ext cx="10698387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Nutrient Uptake</a:t>
            </a:r>
          </a:p>
        </p:txBody>
      </p:sp>
      <p:pic>
        <p:nvPicPr>
          <p:cNvPr id="4" name="Picture 3" descr="04_nutrient_uptak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6293"/>
            <a:ext cx="7315200" cy="3854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2344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80" b="0">
                <a:solidFill>
                  <a:srgbClr val="232B2D"/>
                </a:solidFill>
              </a:defRPr>
            </a:pPr>
            <a:r>
              <a:t>N uptake: T0 28.7; T1 56.3; T2 40.4; T3 61.9; T4 36.0 mg.</a:t>
            </a:r>
          </a:p>
          <a:p>
            <a:pPr>
              <a:spcAft>
                <a:spcPts val="1000"/>
              </a:spcAft>
              <a:defRPr sz="1280" b="0">
                <a:solidFill>
                  <a:srgbClr val="232B2D"/>
                </a:solidFill>
              </a:defRPr>
            </a:pPr>
            <a:r>
              <a:t>P uptake: T0 3.63; T1 5.95; T2 4.45; T3 6.44; T4 4.44 mg.</a:t>
            </a:r>
          </a:p>
          <a:p>
            <a:pPr>
              <a:spcAft>
                <a:spcPts val="1000"/>
              </a:spcAft>
              <a:defRPr sz="1280" b="0">
                <a:solidFill>
                  <a:srgbClr val="232B2D"/>
                </a:solidFill>
              </a:defRPr>
            </a:pPr>
            <a:r>
              <a:t>K uptake: T0 11.7; T1 26.8; T2 19.0; T3 25.4; T4 25.3 mg.</a:t>
            </a:r>
          </a:p>
          <a:p>
            <a:pPr>
              <a:spcAft>
                <a:spcPts val="1000"/>
              </a:spcAft>
              <a:defRPr sz="1280" b="0">
                <a:solidFill>
                  <a:srgbClr val="232B2D"/>
                </a:solidFill>
              </a:defRPr>
            </a:pPr>
            <a:r>
              <a:t>ANOVA did not detect significant treatment effects for N, P, or K uptake (p = 0.491, 0.721, and 0.516, respectively).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Overall Treatment Significance</a:t>
            </a:r>
          </a:p>
        </p:txBody>
      </p:sp>
      <p:pic>
        <p:nvPicPr>
          <p:cNvPr id="4" name="Picture 3" descr="05_anova_significanc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01" y="1097280"/>
            <a:ext cx="5539356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801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0">
                <a:solidFill>
                  <a:srgbClr val="232B2D"/>
                </a:solidFill>
              </a:defRPr>
            </a:pPr>
            <a:r>
              <a:t>Significant responses included plant height, root dry weight, pod fresh/dry weight, grains per pod, pod length, and N/P/K concentration traits.</a:t>
            </a:r>
          </a:p>
          <a:p>
            <a:pPr>
              <a:spcAft>
                <a:spcPts val="1000"/>
              </a:spcAft>
              <a:defRPr sz="1350" b="0">
                <a:solidFill>
                  <a:srgbClr val="232B2D"/>
                </a:solidFill>
              </a:defRPr>
            </a:pPr>
            <a:r>
              <a:t>Non-significant responses included shoot dry/fresh weight, root fresh weight, pods per plant, and nutrient uptake.</a:t>
            </a:r>
          </a:p>
          <a:p>
            <a:pPr>
              <a:spcAft>
                <a:spcPts val="1000"/>
              </a:spcAft>
              <a:defRPr sz="1350" b="0">
                <a:solidFill>
                  <a:srgbClr val="232B2D"/>
                </a:solidFill>
              </a:defRPr>
            </a:pPr>
            <a:r>
              <a:t>The complete ANOVA table is preserved in outputs/tables and outputs/CSV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Integrated Response Pattern</a:t>
            </a:r>
          </a:p>
        </p:txBody>
      </p:sp>
      <p:pic>
        <p:nvPicPr>
          <p:cNvPr id="4" name="Picture 3" descr="06_growth_yiel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42" y="1051560"/>
            <a:ext cx="6881434" cy="5349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Key Findings &amp; Research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Treatment effects were trait-specific rather than uniform across all measured variables.</a:t>
            </a:r>
          </a:p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Strong treatment responses were observed for several yield and nutrient-concentration traits.</a:t>
            </a:r>
          </a:p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Pod fresh weight showed one of the strongest treatment responses, with T4 having the highest observed mean.</a:t>
            </a:r>
          </a:p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N, P, and K uptake means differed numerically among treatments, but these differences were not statistically significant in the current ANOVA.</a:t>
            </a:r>
          </a:p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The repository preserves the raw/processed data, analysis scripts, statistical outputs, diagnostics, and presentation figures for reproducibility.</a:t>
            </a:r>
          </a:p>
          <a:p>
            <a:pPr>
              <a:spcAft>
                <a:spcPts val="1000"/>
              </a:spcAft>
              <a:defRPr sz="1550" b="0">
                <a:solidFill>
                  <a:srgbClr val="232B2D"/>
                </a:solidFill>
              </a:defRPr>
            </a:pPr>
            <a:r>
              <a:t>These results provide a foundation for the later manuscript; interpretation should remain limited to the measured experiment and its replication.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643"/>
                </a:solidFill>
              </a:defRPr>
            </a:pPr>
            <a:r>
              <a:t>Reproducible Research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B2D"/>
                </a:solidFill>
              </a:defRPr>
            </a:pPr>
            <a:r>
              <a:t>Data: experimental dataset and documented variables.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B2D"/>
                </a:solidFill>
              </a:defRPr>
            </a:pPr>
            <a:r>
              <a:t>Scripts: sequential R workflow from import and validation through analysis and visualization.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32B2D"/>
                </a:solidFill>
              </a:defRPr>
            </a:pPr>
            <a:r>
              <a:t>Figures: diagnostic, final-response, and portfolio-ready visualizations.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32B2D"/>
                </a:solidFill>
              </a:defRPr>
            </a:pPr>
            <a:r>
              <a:t>Outputs: ANOVA, assumptions, estimated marginal means, Tukey comparisons, CLDs, treatment summaries, and nutrient-uptake results.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B2D"/>
                </a:solidFill>
              </a:defRPr>
            </a:pPr>
            <a:r>
              <a:t>This presentation summarizes the current analysis record; the full research paper will be developed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